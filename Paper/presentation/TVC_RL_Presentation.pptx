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Reinforcement Learning for Thrust-Vectored</a:t>
            </a:r>
            <a:br/>
            <a:r>
              <a:t>Fin Control of an EDF VTOL Vehicle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BBD5ED"/>
                </a:solidFill>
                <a:latin typeface="Calibri"/>
              </a:defRPr>
            </a:pPr>
            <a:r>
              <a:t>PPO-Based Attitude and Position Control in GPU-Accelerated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3B6F"/>
                </a:solidFill>
                <a:latin typeface="Calibri"/>
              </a:defRPr>
            </a:pPr>
            <a:r>
              <a:t>Tang Zijian (Jacob Tang)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Department of Applied Data Science</a:t>
            </a:r>
            <a:br/>
            <a:r>
              <a:t>Minnesota State University, Mankato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66666"/>
                </a:solidFill>
                <a:latin typeface="Calibri"/>
              </a:defRPr>
            </a:pPr>
            <a:r>
              <a:t>AI Conference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3291840"/>
            <a:ext cx="4114800" cy="2926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420624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[Insert EDF Drone Photo / CAD Render]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1/17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2/17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188720"/>
            <a:ext cx="502920" cy="502920"/>
          </a:xfrm>
          <a:prstGeom prst="ellipse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170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3B6F"/>
                </a:solidFill>
                <a:latin typeface="Calibri"/>
              </a:defRPr>
            </a:pPr>
            <a:r>
              <a:t>Motivation &amp; 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463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Why thrust-vectored EDF drones?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1691640"/>
            <a:ext cx="45720" cy="210312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901952"/>
            <a:ext cx="502920" cy="502920"/>
          </a:xfrm>
          <a:prstGeom prst="ellipse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836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3B6F"/>
                </a:solidFill>
                <a:latin typeface="Calibri"/>
              </a:defRPr>
            </a:pPr>
            <a:r>
              <a:t>Vehicle Platform &amp; Control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1762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The physical testbed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2404872"/>
            <a:ext cx="45720" cy="210312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2615184"/>
            <a:ext cx="502920" cy="502920"/>
          </a:xfrm>
          <a:prstGeom prst="ellipse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59689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3B6F"/>
                </a:solidFill>
                <a:latin typeface="Calibri"/>
              </a:defRPr>
            </a:pPr>
            <a:r>
              <a:t>Simulation Environment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8895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GPU-accelerated Isaac Sim setup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3118104"/>
            <a:ext cx="45720" cy="210312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3328416"/>
            <a:ext cx="502920" cy="502920"/>
          </a:xfrm>
          <a:prstGeom prst="ellipse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3101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3B6F"/>
                </a:solidFill>
                <a:latin typeface="Calibri"/>
              </a:defRPr>
            </a:pPr>
            <a:r>
              <a:t>Physics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6027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Propulsion, aerodynamics, actuators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3831336"/>
            <a:ext cx="45720" cy="210312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4041648"/>
            <a:ext cx="502920" cy="502920"/>
          </a:xfrm>
          <a:prstGeom prst="ellipse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3B6F"/>
                </a:solidFill>
                <a:latin typeface="Calibri"/>
              </a:defRPr>
            </a:pPr>
            <a:r>
              <a:t>PPO Algorithm &amp; 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3159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Observations, actions, reward design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4544568"/>
            <a:ext cx="45720" cy="210312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754880"/>
            <a:ext cx="502920" cy="502920"/>
          </a:xfrm>
          <a:prstGeom prst="ellipse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736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3B6F"/>
                </a:solidFill>
                <a:latin typeface="Calibri"/>
              </a:defRPr>
            </a:pPr>
            <a:r>
              <a:t>Experimental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029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Hover &amp; landing performance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5257800"/>
            <a:ext cx="45720" cy="210312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" y="5468112"/>
            <a:ext cx="502920" cy="502920"/>
          </a:xfrm>
          <a:prstGeom prst="ellipse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4498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3B6F"/>
                </a:solidFill>
                <a:latin typeface="Calibri"/>
              </a:defRPr>
            </a:pPr>
            <a:r>
              <a:t>Discussion &amp; Future 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57424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Challenges and next steps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6C00"/>
                </a:solidFill>
                <a:latin typeface="Calibri"/>
              </a:defRPr>
            </a:pPr>
            <a:r>
              <a:t>~20 minute presentation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2011680"/>
            <a:ext cx="4389120" cy="32004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0" y="2194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3B6F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265176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Can deep RL learn to control a vehicle that steers by deflecting fins in its own exhaust stream?</a:t>
            </a:r>
            <a:br/>
            <a:br/>
            <a:r>
              <a:t>Yes — PPO achieves 100% landing rate with soft touchdowns in simulation, opening the door to sim-to-real transfer on a physical drone testbed.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Motivation: Why Thrust-Vectored EDF Drones?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3/17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A9C"/>
                </a:solidFill>
                <a:latin typeface="Calibri"/>
              </a:defRPr>
            </a:pPr>
            <a:r>
              <a:t>THE CONTROL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●  Conventional multirotors: independent rotor speeds → decoupled control</a:t>
            </a:r>
          </a:p>
          <a:p>
            <a:pPr>
              <a:lnSpc>
                <a:spcPts val="2300"/>
              </a:lnSpc>
              <a:spcBef>
                <a:spcPts val="0"/>
              </a:spcBef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●  Thrust-vectored EDF: single thrust source + 4 jet-vane fins</a:t>
            </a:r>
          </a:p>
          <a:p>
            <a:pPr>
              <a:lnSpc>
                <a:spcPts val="2300"/>
              </a:lnSpc>
              <a:spcBef>
                <a:spcPts val="0"/>
              </a:spcBef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●  Fin effectiveness ∝ throttle² — at 50% throttle, only 25% authority</a:t>
            </a:r>
          </a:p>
          <a:p>
            <a:pPr>
              <a:lnSpc>
                <a:spcPts val="2300"/>
              </a:lnSpc>
              <a:spcBef>
                <a:spcPts val="0"/>
              </a:spcBef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●  Nonlinear aerodynamics, actuator lag, gyroscopic precession</a:t>
            </a:r>
          </a:p>
          <a:p>
            <a:pPr>
              <a:lnSpc>
                <a:spcPts val="2300"/>
              </a:lnSpc>
              <a:spcBef>
                <a:spcPts val="0"/>
              </a:spcBef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●  Classical linear controllers (PID/LQR) limited to narrow operating envelope</a:t>
            </a:r>
          </a:p>
          <a:p>
            <a:pPr>
              <a:lnSpc>
                <a:spcPts val="2300"/>
              </a:lnSpc>
              <a:spcBef>
                <a:spcPts val="0"/>
              </a:spcBef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●  RL can learn the full nonlinear mapping end-to-end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51560"/>
            <a:ext cx="5303520" cy="25603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3B6F"/>
                </a:solidFill>
                <a:latin typeface="Calibri"/>
              </a:defRPr>
            </a:pPr>
            <a: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6002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39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Aerodynamic efficiency over multirotors</a:t>
            </a:r>
          </a:p>
          <a:p>
            <a:pPr>
              <a:lnSpc>
                <a:spcPts val="1839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Noise reduction (single fan vs. 4+ rotors)</a:t>
            </a:r>
          </a:p>
          <a:p>
            <a:pPr>
              <a:lnSpc>
                <a:spcPts val="1839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Mechanical simplicity for certain missions</a:t>
            </a:r>
          </a:p>
          <a:p>
            <a:pPr>
              <a:lnSpc>
                <a:spcPts val="1839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Applicable to rocket landing (jet vanes)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931920"/>
            <a:ext cx="5303520" cy="16459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4069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6C00"/>
                </a:solidFill>
                <a:latin typeface="Calibri"/>
              </a:defRPr>
            </a:pPr>
            <a:r>
              <a:t>The Core Coupling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4348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F_fin = q · S · C_N(α)    where    q ∝ throttle²</a:t>
            </a:r>
            <a:br/>
            <a:br/>
            <a:r>
              <a:t>→ Reducing throttle to descend simultaneously</a:t>
            </a:r>
            <a:br/>
            <a:r>
              <a:t>   reduces your ability to steer laterally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Related Work &amp; Research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4/17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3566160" cy="4572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RL for Aerial Vehicles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●  Hwangbo et al. — PPO for agile quadrotor control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●  Koch et al. — Deep RL for attitude control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●  Pi et al. — Sim-to-real under wind disturbances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●  GPU-parallel training (Isaac Gym, Rudin et al.)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51560"/>
            <a:ext cx="3566160" cy="4572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097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Thrust Vector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64592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●  Long history in rocketry (gimbaled nozzles)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●  Jet-vane TVC for VTOL vehicles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●  Classical: PID/LQR around hover linearization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●  Limited operating envelope for nonlinear regime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051560"/>
            <a:ext cx="3566160" cy="4572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097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Sim-to-Real Transfer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64592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●  Domain randomization (Tobin et al.)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●  System identification (Yu et al.)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●  CAD2RL: simulation-only to real flight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●  Fidelity of dynamics model is critical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029200"/>
            <a:ext cx="11247120" cy="11887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6C00"/>
                </a:solidFill>
                <a:latin typeface="Calibri"/>
              </a:defRPr>
            </a:pPr>
            <a:r>
              <a:t>RESEARCH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RL for thrust-vectored fin control of EDF vehicles remains largely unexplored. Key distinctions: single thrust source with coupled fins, quadratic throttle-authority dependence, hobby-grade actuator dynamics, and gyroscopic effects from high-speed rotor.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Vehicle Platform: EDF TVC Drone Testbed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5/17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A9C"/>
                </a:solidFill>
                <a:latin typeface="Calibri"/>
              </a:defRPr>
            </a:pPr>
            <a:r>
              <a:t>PHYSICAL SPECIFICATIONS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5029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103120"/>
              </a:tblGrid>
              <a:tr h="39901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03B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3B6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mass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3.1 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Body length / diameter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0.35 m / 0.12 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Ixx, Iyy / Izz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0.05 / 0.02 kg·m²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EDF unit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FMS 90mm 12-blade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4068-KV1850 inrunner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Battery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6S LiPo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Servos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4× MG996R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 count / area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 / 0.002 m² each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Max fin deflection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±15° (0.262 rad)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Max thrust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39.2 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0" y="1051560"/>
            <a:ext cx="5303520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011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[Insert CAD Render: cad_v1.png]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840480"/>
            <a:ext cx="5303520" cy="237744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397763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3B6F"/>
                </a:solidFill>
                <a:latin typeface="Calibri"/>
              </a:defRPr>
            </a:pPr>
            <a:r>
              <a:t>Control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3434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9"/>
              </a:lnSpc>
              <a:spcBef>
                <a:spcPts val="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●  Forward fin (+X): pitch control</a:t>
            </a:r>
          </a:p>
          <a:p>
            <a:pPr>
              <a:lnSpc>
                <a:spcPts val="1609"/>
              </a:lnSpc>
              <a:spcBef>
                <a:spcPts val="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●  Right fin (+Y): roll control</a:t>
            </a:r>
          </a:p>
          <a:p>
            <a:pPr>
              <a:lnSpc>
                <a:spcPts val="1609"/>
              </a:lnSpc>
              <a:spcBef>
                <a:spcPts val="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●  Aft fin (−X): complementary pitch</a:t>
            </a:r>
          </a:p>
          <a:p>
            <a:pPr>
              <a:lnSpc>
                <a:spcPts val="1609"/>
              </a:lnSpc>
              <a:spcBef>
                <a:spcPts val="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●  Left fin (−Y): complementary roll</a:t>
            </a:r>
          </a:p>
          <a:p>
            <a:pPr>
              <a:lnSpc>
                <a:spcPts val="1609"/>
              </a:lnSpc>
              <a:spcBef>
                <a:spcPts val="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●  Yaw: differential tangential forces</a:t>
            </a:r>
          </a:p>
          <a:p>
            <a:pPr>
              <a:lnSpc>
                <a:spcPts val="1609"/>
              </a:lnSpc>
              <a:spcBef>
                <a:spcPts val="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●  Altitude: EDF throttle</a:t>
            </a:r>
          </a:p>
          <a:p>
            <a:pPr>
              <a:lnSpc>
                <a:spcPts val="1609"/>
              </a:lnSpc>
              <a:spcBef>
                <a:spcPts val="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●  → 5 actuators → full 6-DOF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Simulation Environment: NVIDIA Isaac Sim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6/17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●  Built on Isaac Lab v2.3.2 (PhysX 5 GPU physics)</a:t>
            </a:r>
          </a:p>
          <a:p>
            <a:pPr>
              <a:lnSpc>
                <a:spcPts val="207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●  128 parallel environments on a single GPU</a:t>
            </a:r>
          </a:p>
          <a:p>
            <a:pPr>
              <a:lnSpc>
                <a:spcPts val="207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●  Gymnasium-compatible vectorized interface</a:t>
            </a:r>
          </a:p>
          <a:p>
            <a:pPr>
              <a:lnSpc>
                <a:spcPts val="207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●  Physics timestep: 8.33 ms (120 Hz)</a:t>
            </a:r>
          </a:p>
          <a:p>
            <a:pPr>
              <a:lnSpc>
                <a:spcPts val="207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●  RL decision timestep: 33.3 ms (30 Hz, decimation = 4)</a:t>
            </a:r>
          </a:p>
          <a:p>
            <a:pPr>
              <a:lnSpc>
                <a:spcPts val="207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●  Semi-empirical dynamics models calibrated to hardware</a:t>
            </a:r>
          </a:p>
          <a:p>
            <a:pPr>
              <a:lnSpc>
                <a:spcPts val="207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●  Two force dispatch modes:</a:t>
            </a:r>
          </a:p>
          <a:p>
            <a:pPr>
              <a:lnSpc>
                <a:spcPts val="1839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  ○  Per-link: forces at center-of-pressure locations</a:t>
            </a:r>
          </a:p>
          <a:p>
            <a:pPr>
              <a:lnSpc>
                <a:spcPts val="1839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  ○  Collapsed body wrench: for debugging/validation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051560"/>
            <a:ext cx="5303520" cy="32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2860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[Insert: isaacsim_128_env.png</a:t>
            </a:r>
            <a:br/>
            <a:r>
              <a:t>128 parallel environments]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4480560"/>
            <a:ext cx="5303520" cy="16459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4572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3B6F"/>
                </a:solidFill>
                <a:latin typeface="Calibri"/>
              </a:defRPr>
            </a:pPr>
            <a:r>
              <a:t>Key 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49834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3B6F"/>
                </a:solidFill>
                <a:latin typeface="Calibri"/>
              </a:defRPr>
            </a:pPr>
            <a:r>
              <a:t>128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5440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Parallel Envs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9834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3B6F"/>
                </a:solidFill>
                <a:latin typeface="Calibri"/>
              </a:defRPr>
            </a:pPr>
            <a:r>
              <a:t>120 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5440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Physics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49834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3B6F"/>
                </a:solidFill>
                <a:latin typeface="Calibri"/>
              </a:defRPr>
            </a:pPr>
            <a:r>
              <a:t>30 Hz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5440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RL Decision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49834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3B6F"/>
                </a:solidFill>
                <a:latin typeface="Calibri"/>
              </a:defRPr>
            </a:pPr>
            <a:r>
              <a:t>4×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5440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Decimation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Propulsion Model: EDF Dynamics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7/17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A9C"/>
                </a:solidFill>
                <a:latin typeface="Calibri"/>
              </a:defRPr>
            </a:pPr>
            <a:r>
              <a:t>FIRST-ORDER SPOOL + QUADRATIC THRUST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ω̇ = (ω_target − ω) / τ_motor        (spool dynamics)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T = k_T · ω²                          (quadratic thrust)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A9C"/>
                </a:solidFill>
                <a:latin typeface="Calibri"/>
              </a:defRPr>
            </a:pPr>
            <a:r>
              <a:t>THREE TORQUE COMPONENTS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39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Static reaction torque: τ = −k_Q · ω² (opposes rotor spin)</a:t>
            </a:r>
          </a:p>
          <a:p>
            <a:pPr>
              <a:lnSpc>
                <a:spcPts val="1839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Dynamic spool torque: τ = −I_rotor · ω̇ (reaction to acceleration)</a:t>
            </a:r>
          </a:p>
          <a:p>
            <a:pPr>
              <a:lnSpc>
                <a:spcPts val="1839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Gyroscopic precession: τ = −ω_body × (I_rotor · ω · ê_z)</a:t>
            </a:r>
          </a:p>
          <a:p>
            <a:pPr>
              <a:lnSpc>
                <a:spcPts val="1609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○  Couples body rotation to rotor angular momentum</a:t>
            </a:r>
          </a:p>
          <a:p>
            <a:pPr>
              <a:lnSpc>
                <a:spcPts val="1609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○  Critical for realistic yaw dynamics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A9C"/>
                </a:solidFill>
                <a:latin typeface="Calibri"/>
              </a:defRPr>
            </a:pPr>
            <a:r>
              <a:t>EDF PARAMETERS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141732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103120"/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03B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3B6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Max thrust T_max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39.2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Motor time constant 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0.15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Max angular velocity ω_max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4300 rad/s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Rotor inertia I_rotor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0.0002 kg·m²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Exhaust speed (nominal)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116 m/s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Gyro torque scale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0" y="4480560"/>
            <a:ext cx="5303520" cy="16459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572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6C00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9377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The gyroscopic precession torque couples body rotation to rotor angular momentum — a real physical effect that makes yaw control non-trivial and distinguishes this from simplified point-mass models.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Fin Aerodynamic Model: Jet-Vane Forces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8/17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A9C"/>
                </a:solidFill>
                <a:latin typeface="Calibri"/>
              </a:defRPr>
            </a:pPr>
            <a:r>
              <a:t>SEMI-EMPIRICAL FORCE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A9C"/>
                </a:solidFill>
                <a:latin typeface="Calibri"/>
              </a:defRPr>
            </a:pPr>
            <a:r>
              <a:t>Dynamic pressure: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q = ½ρ · v²_exhaust · throttle² · k_duct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A9C"/>
                </a:solidFill>
                <a:latin typeface="Calibri"/>
              </a:defRPr>
            </a:pPr>
            <a:r>
              <a:t>Normal force coeff: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C_N(α) = C_Nα · α · (1 − k_sat · α²)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A9C"/>
                </a:solidFill>
                <a:latin typeface="Calibri"/>
              </a:defRPr>
            </a:pPr>
            <a:r>
              <a:t>Drag coeff: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C_D(α) = C_D0 + C_Dα² · α²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A9C"/>
                </a:solidFill>
                <a:latin typeface="Calibri"/>
              </a:defRPr>
            </a:pPr>
            <a:r>
              <a:t>Per-fin forces: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94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F_n = q · S_fin · C_N(α),  F_t = q · S_fin · C_D(α)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0" y="1051560"/>
          <a:ext cx="5029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103120"/>
              </a:tblGrid>
              <a:tr h="406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03B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3B6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Air density 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1.225 kg/m³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Exhaust speed v_exh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116 m/s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Duct correction k_duct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Lift slope C_Nα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3.5 rad⁻¹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Stall saturation k_sat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Zero-defl drag C_D0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Drag slope C_Dα²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 area S_fin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0.002 m²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457200" y="4846320"/>
            <a:ext cx="11247120" cy="13716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937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0392B"/>
                </a:solidFill>
                <a:latin typeface="Calibri"/>
              </a:defRPr>
            </a:pPr>
            <a:r>
              <a:t>CRITICAL COUPLING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Fin force ∝ throttle² — at 50% throttle, fin forces drop to 25% of maximum. This quadratic coupling between thrust and control authority is THE defining challenge of jet-vane TVC and why classical linear controllers struggle outside the hover envelope.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Learning Algorithm: Proximal Policy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9/17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A9C"/>
                </a:solidFill>
                <a:latin typeface="Calibri"/>
              </a:defRPr>
            </a:pPr>
            <a:r>
              <a:t>PPO WITH CLIPPED SURROGATE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L = E[ min( r(θ)·Â, clip(r(θ), 1−ε, 1+ε)·Â )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4"/>
              </a:lnSpc>
              <a:spcBef>
                <a:spcPts val="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●  On-policy actor-critic algorithm</a:t>
            </a:r>
          </a:p>
          <a:p>
            <a:pPr>
              <a:lnSpc>
                <a:spcPts val="1954"/>
              </a:lnSpc>
              <a:spcBef>
                <a:spcPts val="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●  Trust-region constraint prevents destructive updates</a:t>
            </a:r>
          </a:p>
          <a:p>
            <a:pPr>
              <a:lnSpc>
                <a:spcPts val="1954"/>
              </a:lnSpc>
              <a:spcBef>
                <a:spcPts val="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●  Clip coefficient ε = 0.2</a:t>
            </a:r>
          </a:p>
          <a:p>
            <a:pPr>
              <a:lnSpc>
                <a:spcPts val="1954"/>
              </a:lnSpc>
              <a:spcBef>
                <a:spcPts val="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●  GAE advantage estimation (γ=0.99, λ=0.95)</a:t>
            </a:r>
          </a:p>
          <a:p>
            <a:pPr>
              <a:lnSpc>
                <a:spcPts val="1954"/>
              </a:lnSpc>
              <a:spcBef>
                <a:spcPts val="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●  Adaptive KL early stopping (KL_target = 0.03)</a:t>
            </a:r>
          </a:p>
          <a:p>
            <a:pPr>
              <a:lnSpc>
                <a:spcPts val="1954"/>
              </a:lnSpc>
              <a:spcBef>
                <a:spcPts val="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●  Combined loss: policy + value (0.5) + entropy (0.005)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A9C"/>
                </a:solidFill>
                <a:latin typeface="Calibri"/>
              </a:defRPr>
            </a:pPr>
            <a:r>
              <a:t>HYPERPARAMETERS (LANDING TASK)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417320"/>
          <a:ext cx="5029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103120"/>
              </a:tblGrid>
              <a:tr h="39901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03B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3B6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Parallel environments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Rollout length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128 steps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Minibatches / 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Update epochs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Learning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 × 10⁻⁴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Discount γ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GAE 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Clip ε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Entropy coeff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Max grad norm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5303520"/>
            <a:ext cx="5303520" cy="9144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3B6F"/>
                </a:solidFill>
                <a:latin typeface="Calibri"/>
              </a:defRPr>
            </a:pPr>
            <a:r>
              <a:t>Why PPO? Robust training stability for continuous control, proven track record in aerial vehicle RL (Koch et al., Hwangbo et al.)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Observation &amp; Action Space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10/17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A9C"/>
                </a:solidFill>
                <a:latin typeface="Calibri"/>
              </a:defRPr>
            </a:pPr>
            <a:r>
              <a:t>24-DIMENSIONAL OBSERVATION VECTOR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20"/>
          <a:ext cx="56692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47472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Index</a:t>
                      </a:r>
                    </a:p>
                  </a:txBody>
                  <a:tcPr>
                    <a:solidFill>
                      <a:srgbClr val="003B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3B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</a:t>
                      </a:r>
                    </a:p>
                  </a:txBody>
                  <a:tcPr>
                    <a:solidFill>
                      <a:srgbClr val="003B6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0–2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Position error (m)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3–6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Attitude quaternion [w,x,y,z]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7–9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Linear velocity, body FRD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10–12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Angular velocity, body FRD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Height above ground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14–17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 angles (rad)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18–21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 angular rates (rad/s)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Motor RPM, normalized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Contact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A9C"/>
                </a:solidFill>
                <a:latin typeface="Calibri"/>
              </a:defRPr>
            </a:pPr>
            <a:r>
              <a:t>5-DIMENSIONAL ACTION VECTOR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a = [α₁, α₂, α₃, α₄, u_throttle]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39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4 fin deflections: ±15° (±0.262 rad)</a:t>
            </a:r>
          </a:p>
          <a:p>
            <a:pPr>
              <a:lnSpc>
                <a:spcPts val="1839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1 throttle command: [0, 1]</a:t>
            </a:r>
          </a:p>
          <a:p>
            <a:pPr>
              <a:lnSpc>
                <a:spcPts val="1839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Network outputs tanh → linear scaling</a:t>
            </a:r>
          </a:p>
          <a:p>
            <a:pPr>
              <a:lnSpc>
                <a:spcPts val="1839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Smaller than quadrotor (typically 4 rotors)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840480"/>
            <a:ext cx="5303520" cy="237744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97763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3B6F"/>
                </a:solidFill>
                <a:latin typeface="Calibri"/>
              </a:defRPr>
            </a:pPr>
            <a:r>
              <a:t>Network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389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onsolas"/>
              </a:defRPr>
            </a:pPr>
            <a:r>
              <a:t>Actor:  Obs(24) → FC(256) → tanh → FC(256) → tanh → FC(5)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754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onsolas"/>
              </a:defRPr>
            </a:pPr>
            <a:r>
              <a:t>Critic: Obs(24) → FC(256) → tanh → FC(256) → tanh → FC(1)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52120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Separate actor-critic networks</a:t>
            </a:r>
            <a:br/>
            <a:r>
              <a:t>Learnable per-dimension log-σ for exploration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86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Design rationale: Quaternion avoids gimbal lock; fin angles/rates give proprioceptive feedback on actuator state (critical given servo lag); normalized RPM informs policy of available fin authority.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Critical: Initialization Priors on Action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11/17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5486400" cy="25603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3B6F"/>
                </a:solidFill>
                <a:latin typeface="Calibri"/>
              </a:defRPr>
            </a:pPr>
            <a:r>
              <a:t>1. Throttle Bias Initialization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39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Output bias → atanh(2 × 0.78 − 1) ≈ 1.05</a:t>
            </a:r>
          </a:p>
          <a:p>
            <a:pPr>
              <a:lnSpc>
                <a:spcPts val="1839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Initial mean throttle ≈ 0.78 (near hover ≈ 0.88)</a:t>
            </a:r>
          </a:p>
          <a:p>
            <a:pPr>
              <a:lnSpc>
                <a:spcPts val="1839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Without this: default 0.5 → immediate free-fall</a:t>
            </a:r>
          </a:p>
          <a:p>
            <a:pPr>
              <a:lnSpc>
                <a:spcPts val="1839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Agent converges to zero-throttle local optimum</a:t>
            </a:r>
          </a:p>
          <a:p>
            <a:pPr>
              <a:lnSpc>
                <a:spcPts val="1839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Physical reasoning: √(mg / T_max) ≈ 0.88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51560"/>
            <a:ext cx="5486400" cy="25603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143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3B6F"/>
                </a:solidFill>
                <a:latin typeface="Calibri"/>
              </a:defRPr>
            </a:pPr>
            <a:r>
              <a:t>2. Per-Channel Exploration Noise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39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Fin channels: log σ = −2.0 (std ≈ 0.14)</a:t>
            </a:r>
          </a:p>
          <a:p>
            <a:pPr>
              <a:lnSpc>
                <a:spcPts val="1839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Throttle channel: log σ = −1.0 (std ≈ 0.37)</a:t>
            </a:r>
          </a:p>
          <a:p>
            <a:pPr>
              <a:lnSpc>
                <a:spcPts val="1839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Asymmetric: quieter fins, louder throttle</a:t>
            </a:r>
          </a:p>
          <a:p>
            <a:pPr>
              <a:lnSpc>
                <a:spcPts val="1839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Prevents lateral oscillations from fin noise</a:t>
            </a:r>
          </a:p>
          <a:p>
            <a:pPr>
              <a:lnSpc>
                <a:spcPts val="1839"/>
              </a:lnSpc>
              <a:spcBef>
                <a:spcPts val="0"/>
              </a:spcBef>
              <a:spcAft>
                <a:spcPts val="5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Maintains altitude exploration range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931920"/>
            <a:ext cx="11338560" cy="22860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0392B"/>
                </a:solidFill>
                <a:latin typeface="Calibri"/>
              </a:defRPr>
            </a:pPr>
            <a:r>
              <a:t>WITHOUT THESE PRIORS — FAILURE MODES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805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Default throttle (0.5):</a:t>
            </a:r>
            <a:br/>
            <a:r>
              <a:t>→ Immediate free-fall</a:t>
            </a:r>
            <a:br/>
            <a:r>
              <a:t>→ Large negative per-step rewards</a:t>
            </a:r>
            <a:br/>
            <a:r>
              <a:t>→ Converges to zero-throttle equilibrium</a:t>
            </a:r>
            <a:br/>
            <a:r>
              <a:t>→ Agent learns: "crash fast = minimize cost"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4805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Uniform exploration noise:</a:t>
            </a:r>
            <a:br/>
            <a:r>
              <a:t>→ Excessive lateral oscillations from fins</a:t>
            </a:r>
            <a:br/>
            <a:r>
              <a:t>→ Vehicle destabilized before learning descent</a:t>
            </a:r>
            <a:br/>
            <a:r>
              <a:t>→ No stable trajectories to learn from</a:t>
            </a:r>
            <a:br/>
            <a:r>
              <a:t>→ Policy never discovers productive control basin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Reward Design: Terminal vs. Per-Step Balance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12/17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A9C"/>
                </a:solidFill>
                <a:latin typeface="Calibri"/>
              </a:defRPr>
            </a:pPr>
            <a:r>
              <a:t>LANDING TASK REWARD WEIGHTS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20"/>
          <a:ext cx="50292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</a:tblGrid>
              <a:tr h="31699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Term</a:t>
                      </a:r>
                    </a:p>
                  </a:txBody>
                  <a:tcPr>
                    <a:solidFill>
                      <a:srgbClr val="003B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003B6F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Alive bonus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3D position error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−0.05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Horizontal position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−0.30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Attitude error (tilt)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−0.20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Angular velocity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−0.10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Control effort (fin |α|)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−0.02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Control rate (fin |α̇|)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−0.01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Vertical speed shaping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−0.30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Delta-v cost (T/T_max)²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−0.20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─── Terminal ───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───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Crash penalty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−200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Touchdown softness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+25·e^(−v)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Pad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+200·e^(−d)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Landing success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217920" y="1051560"/>
            <a:ext cx="5486400" cy="27432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143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6C00"/>
                </a:solidFill>
                <a:latin typeface="Calibri"/>
              </a:defRPr>
            </a:pPr>
            <a:r>
              <a:t>THE MAGNITUDE BALANCE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For episode length T = 900 (30s at 30Hz):</a:t>
            </a:r>
            <a:br/>
            <a:br/>
            <a:r>
              <a:t>Integrated per-step costs: Σ|w_i|·φ̄_i·T ≈ O(100)</a:t>
            </a:r>
            <a:br/>
            <a:br/>
            <a:r>
              <a:t>If terminal rewards &lt; O(100):</a:t>
            </a:r>
            <a:br/>
            <a:r>
              <a:t>→ PPO optimizes per-step minimization</a:t>
            </a:r>
            <a:br/>
            <a:r>
              <a:t>→ Zero throttle = crash fast = minimize cost</a:t>
            </a:r>
            <a:br/>
            <a:br/>
            <a:r>
              <a:t>Solution: Terminal magnitudes (≥200) must</a:t>
            </a:r>
            <a:br/>
            <a:r>
              <a:t>clearly dominate integrated per-step budget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114800"/>
            <a:ext cx="5486400" cy="201168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206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3B6F"/>
                </a:solidFill>
                <a:latin typeface="Calibri"/>
              </a:defRPr>
            </a:pPr>
            <a:r>
              <a:t>Horizontal Guidance Shaping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5720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● Dense lateral gradient (w = −0.30) throughout descent</a:t>
            </a:r>
            <a:br/>
            <a:r>
              <a:t>● Independent of altitude — guides even at high altitudes</a:t>
            </a:r>
            <a:br/>
            <a:r>
              <a:t>● Exponential pad bonus e^(−d) has negligible gradient for d &gt; 2m</a:t>
            </a:r>
            <a:br/>
            <a:r>
              <a:t>● Vertical speed shaping targets ~0.5 m/s descent rate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Training Procedure &amp; Spawn-Position Curriculum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13/17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A9C"/>
                </a:solidFill>
                <a:latin typeface="Calibri"/>
              </a:defRPr>
            </a:pPr>
            <a:r>
              <a:t>TWO TRAINING TASKS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303520" cy="18288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3B6F"/>
                </a:solidFill>
                <a:latin typeface="Calibri"/>
              </a:defRPr>
            </a:pPr>
            <a:r>
              <a:t>Hover Stabilization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9"/>
              </a:lnSpc>
              <a:spcBef>
                <a:spcPts val="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●  Residual-PID: PID baseline + PPO correction (scale=0.05)</a:t>
            </a:r>
          </a:p>
          <a:p>
            <a:pPr>
              <a:lnSpc>
                <a:spcPts val="1609"/>
              </a:lnSpc>
              <a:spcBef>
                <a:spcPts val="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●  2,048 environment steps, LR = 10⁻⁶</a:t>
            </a:r>
          </a:p>
          <a:p>
            <a:pPr>
              <a:lnSpc>
                <a:spcPts val="1609"/>
              </a:lnSpc>
              <a:spcBef>
                <a:spcPts val="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●  Rollout: 64 steps, 2 minibatches, 2 epochs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74720"/>
            <a:ext cx="5303520" cy="1828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A33"/>
                </a:solidFill>
                <a:latin typeface="Calibri"/>
              </a:defRPr>
            </a:pPr>
            <a:r>
              <a:t>Autonomous Landing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9"/>
              </a:lnSpc>
              <a:spcBef>
                <a:spcPts val="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●  Pure PPO (no PID baseline) — full trajectory learning</a:t>
            </a:r>
          </a:p>
          <a:p>
            <a:pPr>
              <a:lnSpc>
                <a:spcPts val="1609"/>
              </a:lnSpc>
              <a:spcBef>
                <a:spcPts val="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●  5,000,000 environment steps, LR = 3×10⁻⁴</a:t>
            </a:r>
          </a:p>
          <a:p>
            <a:pPr>
              <a:lnSpc>
                <a:spcPts val="1609"/>
              </a:lnSpc>
              <a:spcBef>
                <a:spcPts val="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●  Rollout: 128 steps, 8 minibatches, 4 epochs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A9C"/>
                </a:solidFill>
                <a:latin typeface="Calibri"/>
              </a:defRPr>
            </a:pPr>
            <a:r>
              <a:t>SPAWN-POSITION CURRICULUM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17320"/>
            <a:ext cx="5486400" cy="45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3B6F"/>
                </a:solidFill>
                <a:latin typeface="Calibri"/>
              </a:defRPr>
            </a:pPr>
            <a:r>
              <a:t>Start (0 steps)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600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Consolas"/>
              </a:defRPr>
            </a:pPr>
            <a:r>
              <a:t>±0.5 m XY spawn 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Learn on-pad touchdown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3B6F"/>
                </a:solidFill>
                <a:latin typeface="Calibri"/>
              </a:defRPr>
            </a:pPr>
            <a:r>
              <a:t>Linear anneal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42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Consolas"/>
              </a:defRPr>
            </a:pPr>
            <a:r>
              <a:t>±0.5 m → ±2.0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43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Gradually increase lateral offset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3B6F"/>
                </a:solidFill>
                <a:latin typeface="Calibri"/>
              </a:defRPr>
            </a:pPr>
            <a:r>
              <a:t>End (3M steps)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246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Consolas"/>
              </a:defRPr>
            </a:pPr>
            <a:r>
              <a:t>±2.0 m XY (full range)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566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Full task difficulty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069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3B6F"/>
                </a:solidFill>
                <a:latin typeface="Calibri"/>
              </a:defRPr>
            </a:pPr>
            <a:r>
              <a:t>Altitude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069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Consolas"/>
              </a:defRPr>
            </a:pPr>
            <a:r>
              <a:t>8–12 m (constant)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Same throughout training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3B6F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892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Consolas"/>
              </a:defRPr>
            </a:pPr>
            <a:r>
              <a:t>Full ±2.0 m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212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Always un-curricularized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Rationale: Starting with a narrow spawn box lets the policy learn soft-touchdown behavior first, then generalize to larger lateral offsets. Evaluation always uses the full range.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Results: Hover Stabilization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14/17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A9C"/>
                </a:solidFill>
                <a:latin typeface="Calibri"/>
              </a:defRPr>
            </a:pPr>
            <a:r>
              <a:t>HOVER PERFORMANCE METRICS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2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37160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B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3B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003B6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Mean position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0.085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 0.5 m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Max position error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0.215 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 0.5 m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Mean tilt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 0.001 rad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Max tilt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 0.001 rad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Mean angular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1.1×10⁻⁵ rad/s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572000"/>
            <a:ext cx="5486400" cy="155448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3B6F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9"/>
              </a:lnSpc>
              <a:spcBef>
                <a:spcPts val="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●  PID provides effective attitude stabilization</a:t>
            </a:r>
          </a:p>
          <a:p>
            <a:pPr>
              <a:lnSpc>
                <a:spcPts val="1609"/>
              </a:lnSpc>
              <a:spcBef>
                <a:spcPts val="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●  RL residual corrects for position drift</a:t>
            </a:r>
          </a:p>
          <a:p>
            <a:pPr>
              <a:lnSpc>
                <a:spcPts val="1609"/>
              </a:lnSpc>
              <a:spcBef>
                <a:spcPts val="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●  Only 2,048 steps needed — very fast convergence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188720"/>
            <a:ext cx="502920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32588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7A33"/>
                </a:solidFill>
                <a:latin typeface="Calibri"/>
              </a:defRPr>
            </a:pPr>
            <a:r>
              <a:t>0.085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0116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Mean Position Error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834640"/>
            <a:ext cx="502920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9718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7A33"/>
                </a:solidFill>
                <a:latin typeface="Calibri"/>
              </a:defRPr>
            </a:pPr>
            <a:r>
              <a:t>&lt; 0.001 rad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6576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Mean Tilt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480560"/>
            <a:ext cx="502920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61772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5A9C"/>
                </a:solidFill>
                <a:latin typeface="Calibri"/>
              </a:defRPr>
            </a:pPr>
            <a:r>
              <a:t>2,048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3035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Training Steps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Results: Autonomous Landing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15/17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A9C"/>
                </a:solidFill>
                <a:latin typeface="Calibri"/>
              </a:defRPr>
            </a:pPr>
            <a:r>
              <a:t>LANDING EVALUATION METRICS (128 PARALLEL EPISODES)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20"/>
          <a:ext cx="50292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</a:tblGrid>
              <a:tr h="386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B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3B6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Landing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Mean touchdown speed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0.126 m/s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Max touchdown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0.347 m/s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Mean pad distance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1.89 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Max pad distance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4.56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Mean throttle (eval)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0.759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Max downward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9.75 m/s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On-pad fraction (d &lt; 0.5m)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0" y="1188720"/>
            <a:ext cx="2468880" cy="1554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A33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Landing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188720"/>
            <a:ext cx="2468880" cy="1554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1325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A33"/>
                </a:solidFill>
                <a:latin typeface="Calibri"/>
              </a:defRPr>
            </a:pPr>
            <a:r>
              <a:t>0.126 m/s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Mean Touchdown Speed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017520"/>
            <a:ext cx="2468880" cy="1554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154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86C00"/>
                </a:solidFill>
                <a:latin typeface="Calibri"/>
              </a:defRPr>
            </a:pPr>
            <a:r>
              <a:t>1.89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Mean Pad Distance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3017520"/>
            <a:ext cx="2468880" cy="1554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3154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A9C"/>
                </a:solidFill>
                <a:latin typeface="Calibri"/>
              </a:defRPr>
            </a:pPr>
            <a:r>
              <a:t>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Training Steps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11247120" cy="10972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12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✓ 100% landing rate with soft touchdowns — the policy reliably descends and lands safely</a:t>
            </a:r>
            <a:br/>
            <a:r>
              <a:t>⚠ Lateral accuracy remains limited: 1.89 m mean pad distance, only 2% on-pad — the policy has not fully solved lateral guidance to the pad center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Training Progression &amp;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16/17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943600" cy="3657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[Insert: training_curves.png</a:t>
            </a:r>
            <a:br/>
            <a:r>
              <a:t>Mean Episode Reward over 5M Steps]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A9C"/>
                </a:solidFill>
                <a:latin typeface="Calibri"/>
              </a:defRPr>
            </a:pPr>
            <a:r>
              <a:t>TRAINING DYNAMICS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4173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39"/>
              </a:lnSpc>
              <a:spcBef>
                <a:spcPts val="0"/>
              </a:spcBef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0–1M steps: reward ≈ −3 (per-step costs dominate)</a:t>
            </a:r>
          </a:p>
          <a:p>
            <a:pPr>
              <a:lnSpc>
                <a:spcPts val="1839"/>
              </a:lnSpc>
              <a:spcBef>
                <a:spcPts val="0"/>
              </a:spcBef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1–2M steps: transition to positive rewards</a:t>
            </a:r>
          </a:p>
          <a:p>
            <a:pPr>
              <a:lnSpc>
                <a:spcPts val="1839"/>
              </a:lnSpc>
              <a:spcBef>
                <a:spcPts val="0"/>
              </a:spcBef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2–5M steps: steady improvement to ≈ +1.75</a:t>
            </a:r>
          </a:p>
          <a:p>
            <a:pPr>
              <a:lnSpc>
                <a:spcPts val="1839"/>
              </a:lnSpc>
              <a:spcBef>
                <a:spcPts val="0"/>
              </a:spcBef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Monotonic upward trend confirms learning</a:t>
            </a:r>
          </a:p>
          <a:p>
            <a:pPr>
              <a:lnSpc>
                <a:spcPts val="1839"/>
              </a:lnSpc>
              <a:spcBef>
                <a:spcPts val="0"/>
              </a:spcBef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100% landing rate achieved early, maintained throughout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937760"/>
            <a:ext cx="11247120" cy="12801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3B6F"/>
                </a:solidFill>
                <a:latin typeface="Calibri"/>
              </a:defRPr>
            </a:pPr>
            <a:r>
              <a:t>Interpreting the Reward Crossover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Negative → Positive crossover at ~2M steps: integrated per-step costs (attitude, control effort, delta-v) give way to terminal landing bonuses (+250 success + up to +200 pad accuracy). This marks when the majority of episodes end in successful landings rather than timeouts or crashes.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Discussion: The Lateral Accuracy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17/17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143000"/>
            <a:ext cx="411480" cy="41148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3B6F"/>
                </a:solidFill>
                <a:latin typeface="Calibri"/>
              </a:defRPr>
            </a:pPr>
            <a:r>
              <a:t>Throttle–Fin Coupling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463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Lateral authority ∝ throttle². During descent, reducing throttle simultaneously reduces fin effectiveness — fundamental tension between descent rate and lateral controllability.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68880"/>
            <a:ext cx="411480" cy="41148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423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3B6F"/>
                </a:solidFill>
                <a:latin typeface="Calibri"/>
              </a:defRPr>
            </a:pPr>
            <a:r>
              <a:t>Actuator Bandwidth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88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MG996R servos (τ = 0.05s, 7.54 rad/s max rate) limit correction speed, especially during final approach where rapid corrections are needed.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794760"/>
            <a:ext cx="411480" cy="41148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749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3B6F"/>
                </a:solidFill>
                <a:latin typeface="Calibri"/>
              </a:defRPr>
            </a:pPr>
            <a:r>
              <a:t>Reward Gradient at Distance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114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Exponential pad bonus e^(−d) has negligible gradient for d &gt; 2m. Linear horizontal penalty (w = −0.30) may be insufficient vs. vertical/delta-v terms.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120639"/>
            <a:ext cx="411480" cy="41148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07491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3B6F"/>
                </a:solidFill>
                <a:latin typeface="Calibri"/>
              </a:defRPr>
            </a:pPr>
            <a:r>
              <a:t>Curriculum Interaction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44067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Narrow initial spawn helps learn touchdown but may not provide sufficient training signal for large lateral corrections from the full ±2.0m range.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3B6F"/>
                </a:solidFill>
                <a:latin typeface="Calibri"/>
              </a:defRPr>
            </a:pPr>
            <a:r>
              <a:t>vs. Quadrotors: Independent, throttle-decoupled attitude authority. TVC's coupled control means standard quadrotor RL techniques don't directly transfer.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Sim-to-Real Transfer Considerations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18/17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731520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3B6F"/>
                </a:solidFill>
                <a:latin typeface="Calibri"/>
              </a:defRPr>
            </a:pPr>
            <a:r>
              <a:t>Aerodynamic Model Fidelity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Flat-plate fin model may miss flow separation, wake interactions between fins, and ground-effect changes during landing approach.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097280"/>
            <a:ext cx="3657600" cy="10515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1430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A33"/>
                </a:solidFill>
                <a:latin typeface="Calibri"/>
              </a:defRPr>
            </a:pPr>
            <a:r>
              <a:t>Mitigation: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4173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CFD validation, wind tunnel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40"/>
            <a:ext cx="73152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231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3B6F"/>
                </a:solidFill>
                <a:latin typeface="Calibri"/>
              </a:defRPr>
            </a:pPr>
            <a:r>
              <a:t>Servo Nonlinearities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Real MG996R servos exhibit backlash, load-dependent speed variation, and temperature drift not captured by first-order model.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377440"/>
            <a:ext cx="3657600" cy="10515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4231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A33"/>
                </a:solidFill>
                <a:latin typeface="Calibri"/>
              </a:defRPr>
            </a:pPr>
            <a:r>
              <a:t>Mitigation: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6974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System identification on hardware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731520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3B6F"/>
                </a:solidFill>
                <a:latin typeface="Calibri"/>
              </a:defRPr>
            </a:pPr>
            <a:r>
              <a:t>Battery Voltage Sag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776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6S LiPo voltage drops under load, reducing available thrust during high-throttle maneuvers — not currently modeled.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657600"/>
            <a:ext cx="3657600" cy="10515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37033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A33"/>
                </a:solidFill>
                <a:latin typeface="Calibri"/>
              </a:defRPr>
            </a:pPr>
            <a:r>
              <a:t>Mitigation: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977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Voltage-dependent thrust 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37759"/>
            <a:ext cx="73152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83479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3B6F"/>
                </a:solidFill>
                <a:latin typeface="Calibri"/>
              </a:defRPr>
            </a:pPr>
            <a:r>
              <a:t>Sensor Noise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57799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Simulation provides clean state observations; physical testbed uses noisy IMU and position estimates.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4937759"/>
            <a:ext cx="3657600" cy="10515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4983479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A33"/>
                </a:solidFill>
                <a:latin typeface="Calibri"/>
              </a:defRPr>
            </a:pPr>
            <a:r>
              <a:t>Mitigation: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25779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Observation noise injection during training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3B6F"/>
                </a:solidFill>
                <a:latin typeface="Calibri"/>
              </a:defRPr>
            </a:pPr>
            <a:r>
              <a:t>Primary strategy: Domain randomization of aerodynamic coefficients, servo parameters, mass properties, and sensor noise during training to improve transfer robustness.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19/17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09728" cy="82296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5A9C"/>
                </a:solidFill>
                <a:latin typeface="Calibri"/>
              </a:defRPr>
            </a:pPr>
            <a:r>
              <a:t>GTrXL 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Replace feed-forward MLP with Gated Transformer-XL for temporal context — handle wind disturbances and improve trajectory planning during descent. Recent aerospace results (Federici et al., Carradori et al.) show promise.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109728" cy="82296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A33"/>
                </a:solidFill>
                <a:latin typeface="Calibri"/>
              </a:defRPr>
            </a:pPr>
            <a:r>
              <a:t>Domain Randomization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Randomize aerodynamic coefficients, servo parameters, mass properties, and sensor noise during training for robust sim-to-real transfer.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109728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6C00"/>
                </a:solidFill>
                <a:latin typeface="Calibri"/>
              </a:defRPr>
            </a:pPr>
            <a:r>
              <a:t>Lateral Guidance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20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Potential-based reward shaping (Ng et al., 1999), hierarchical policies (separate lateral/vertical controllers), extended curriculum strategies.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51959"/>
            <a:ext cx="109728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519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0392B"/>
                </a:solidFill>
                <a:latin typeface="Calibri"/>
              </a:defRPr>
            </a:pPr>
            <a:r>
              <a:t>Hardware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7199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Deploy trained policies on the physical EDF drone testbed. Validate sim-to-real transfer and characterize the reality gap.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03520"/>
            <a:ext cx="109728" cy="82296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303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B1FA2"/>
                </a:solidFill>
                <a:latin typeface="Calibri"/>
              </a:defRPr>
            </a:pPr>
            <a:r>
              <a:t>Wind Disturbance Rejection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6235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Train and evaluate under stochastic wind conditions using the simulation's wind model with 27-dim observation space including wind estimates.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3B6F"/>
                </a:solidFill>
                <a:latin typeface="Calibri"/>
              </a:defRPr>
            </a:pPr>
            <a:r>
              <a:t>Near-term priority: GTrXL integration + domain randomization → hardware flight tests. The 24-dim observation space is already compatible with transformer sequence input.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BD5ED"/>
                </a:solidFill>
                <a:latin typeface="Calibri"/>
              </a:defRPr>
            </a:pPr>
            <a:r>
              <a:t>PPO can learn thrust-vectored fin control for an EDF VTOL vehicle in simulation — achieving 100% landing rate with soft touchdowns, opening the path to sim-to-real transfer.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A9C"/>
                </a:solidFill>
                <a:latin typeface="Calibri"/>
              </a:defRPr>
            </a:pPr>
            <a:r>
              <a:t>KEY 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A33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GPU-accelerated Isaac Sim environment with semi-empirical aerodynamic, propulsion, and actuator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29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A33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PPO hover policy: 0.085 m mean error in only 2,048 steps (residual-PID architecture)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A33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PPO landing policy: 100% success rate, 0.126 m/s mean touchdown speed over 5M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A33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348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Critical insight: initialization priors on action distribution prevent degenerate local optima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37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A33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377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Reward design principle: terminal magnitudes must dominate integrated per-step costs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669280"/>
            <a:ext cx="12191695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Tang Zijian (Jacob Tang)  |  Minnesota State University, Mankato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126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A9C"/>
                </a:solidFill>
                <a:latin typeface="Calibri"/>
              </a:defRPr>
            </a:pPr>
            <a:r>
              <a:t>Code &amp; Data: github.com/Jacob19999/Transformer-rl-retro-propulsion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7607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3B6F"/>
                </a:solidFill>
                <a:latin typeface="Calibri"/>
              </a:defRPr>
            </a:pPr>
            <a:r>
              <a:t>Thank You!</a:t>
            </a:r>
            <a:br/>
            <a:r>
              <a:t>Questions?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20/17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